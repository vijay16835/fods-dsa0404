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3" r:id="rId1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Student Marks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Ravi</c:v>
                </c:pt>
                <c:pt idx="1">
                  <c:v>Priya</c:v>
                </c:pt>
                <c:pt idx="2">
                  <c:v>Arun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92</c:v>
                </c:pt>
                <c:pt idx="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E1-4860-8C19-B01BC65FB8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Sales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Day 1</c:v>
                </c:pt>
                <c:pt idx="1">
                  <c:v>Day 2</c:v>
                </c:pt>
                <c:pt idx="2">
                  <c:v>Day 3</c:v>
                </c:pt>
                <c:pt idx="3">
                  <c:v>Day 4</c:v>
                </c:pt>
                <c:pt idx="4">
                  <c:v>Day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</c:v>
                </c:pt>
                <c:pt idx="1">
                  <c:v>250</c:v>
                </c:pt>
                <c:pt idx="2">
                  <c:v>220</c:v>
                </c:pt>
                <c:pt idx="3">
                  <c:v>280</c:v>
                </c:pt>
                <c:pt idx="4">
                  <c:v>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83-4D89-9FB0-B8633160D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Subject-wise Marks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36-4269-8488-AC12604A7A08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36-4269-8488-AC12604A7A08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36-4269-8488-AC12604A7A0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36-4269-8488-AC12604A7A0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36-4269-8488-AC12604A7A0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36-4269-8488-AC12604A7A0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Math</c:v>
                </c:pt>
                <c:pt idx="1">
                  <c:v>Science</c:v>
                </c:pt>
                <c:pt idx="2">
                  <c:v>English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70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36-4269-8488-AC12604A7A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367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28EA2-042F-1A88-C862-F8BCDB2A0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AF603-84B8-5AD5-4D1F-E55B7AFA1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D214B-A031-7D53-6762-6E65A7F9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7DFBB-D0D8-507D-3332-CD382258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23655-9604-676E-B53F-E345F297B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500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F6F1-961F-864E-98B8-9C8DDC53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7B62F-17FB-B3B5-7593-2D179687E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AFCE8-530B-F26A-BB1F-AE83B687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5E755-A694-FBF6-27A1-EABB180A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5660F-838F-2F36-E8AF-1AF80E7C2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1391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37890-017D-35EA-E11E-38057B79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E111-0D66-EDA7-DA4C-C24547C02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6411D-54DA-B814-5112-67A401A8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3DBA2-C65B-B422-6466-AE73B65AA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D4150-5D32-67A2-2C60-17551441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8888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36FBF-8C27-BA18-273F-10F8FC09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CA74D-7B93-3513-D7DC-BEA2C3DB9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BB661-BBFE-C6A7-E869-3498A3AB3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87114-B9F9-D687-B512-EF7C8D4E2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4D171-F31E-BB53-3549-FFF60F48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70AAF-2FC8-2D4A-FA4B-8CF7B5998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2894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C17ED-BB26-66BD-A9EE-EABFEA418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5CA1D-65A0-5B7F-0559-B536B2D8B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49A1C-F26C-FB23-EA21-DBCC16872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EA01E-BBF1-C997-78BC-4B2E786EB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7F86F-9CE3-3CC2-344E-7DC3526CC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DA825-9C7E-15D3-CADD-D5E05CAF8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5AA11-59A6-E6B0-A1E4-B9BC627B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E04C3-0C0F-2822-8297-0D3FCEAA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0361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7ED6-C3D7-EB41-80B1-DFB4397F7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8E4BF-567E-F58B-1339-C99149D14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BCE98-5C7B-CE82-090C-DBEF4E7EC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210F0-62AE-6BD1-3824-9FBD5A882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8013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8CDD8-65F0-9323-EF86-F1BE37968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A38F1-8847-EE3A-7294-FE70DD10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CC46B-8181-0283-9A59-FCEA51D2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82782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B9F3B-6199-2E29-9F6B-034FE7AB3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343AF-B1A5-8E91-348E-38BA9DD73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B7112-CA2B-14E5-4AB9-2DD4A9AC9D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B1A12-AB0C-CF2D-3A02-36D9BCD12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0FE39-6662-E86A-129B-46764888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7A15D-B729-C50A-87B3-6C987228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9202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C146-54DF-1B9A-D708-852B4158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5B93A-7ED0-4803-A0F5-6C0660F17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4D63D-8C77-18EF-C9F6-C68101EA7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BE746-C655-28F9-2223-E9AA94DA1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09819-E1A1-331B-DD45-9BF91FB8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2C4A5-1AB9-7991-6371-83EC51DB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2444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9E2F3-9E3D-CE86-D795-FC75E5BC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88306-3619-6352-F036-946AE659A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BA8D-95DC-B815-CE1E-2CBD8F36E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B1DC-A16F-5B2B-ECA9-90FEAC54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D75BF-98A3-87BC-6783-22BB8AE98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3531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61B9B-5482-D1C7-793F-EB75A2189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1C430-CE9D-E0D0-209E-32D975849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E5A65-3B78-C8BB-E0E1-31534FDF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6AA03-2214-9081-4E43-EBA0C816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70080-4DBD-2439-56E0-11315337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21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84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2745E-917C-A59D-E16B-FC1C718FC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6558B-CED1-F43C-3C15-E06C33E00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40005-D816-7BCD-575C-321810405B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D52DE-92D3-78B4-7DCD-45498F3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DA192-CF4A-9E9C-B33C-8D50D7939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975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932688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316736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700784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6" name="Shape 4"/>
          <p:cNvSpPr/>
          <p:nvPr/>
        </p:nvSpPr>
        <p:spPr>
          <a:xfrm>
            <a:off x="9162288" y="548640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7" name="Shape 5"/>
          <p:cNvSpPr/>
          <p:nvPr/>
        </p:nvSpPr>
        <p:spPr>
          <a:xfrm>
            <a:off x="9162288" y="932688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8" name="Shape 6"/>
          <p:cNvSpPr/>
          <p:nvPr/>
        </p:nvSpPr>
        <p:spPr>
          <a:xfrm>
            <a:off x="9162288" y="1316736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9" name="Shape 7"/>
          <p:cNvSpPr/>
          <p:nvPr/>
        </p:nvSpPr>
        <p:spPr>
          <a:xfrm>
            <a:off x="9162288" y="1700784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0" name="Shape 8"/>
          <p:cNvSpPr/>
          <p:nvPr/>
        </p:nvSpPr>
        <p:spPr>
          <a:xfrm>
            <a:off x="9546336" y="548640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1" name="Shape 9"/>
          <p:cNvSpPr/>
          <p:nvPr/>
        </p:nvSpPr>
        <p:spPr>
          <a:xfrm>
            <a:off x="9546336" y="932688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2" name="Shape 10"/>
          <p:cNvSpPr/>
          <p:nvPr/>
        </p:nvSpPr>
        <p:spPr>
          <a:xfrm>
            <a:off x="9546336" y="1316736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3" name="Shape 11"/>
          <p:cNvSpPr/>
          <p:nvPr/>
        </p:nvSpPr>
        <p:spPr>
          <a:xfrm>
            <a:off x="9546336" y="1700784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9930384" y="548640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5" name="Shape 13"/>
          <p:cNvSpPr/>
          <p:nvPr/>
        </p:nvSpPr>
        <p:spPr>
          <a:xfrm>
            <a:off x="9930384" y="932688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6" name="Shape 14"/>
          <p:cNvSpPr/>
          <p:nvPr/>
        </p:nvSpPr>
        <p:spPr>
          <a:xfrm>
            <a:off x="9930384" y="1316736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7" name="Shape 15"/>
          <p:cNvSpPr/>
          <p:nvPr/>
        </p:nvSpPr>
        <p:spPr>
          <a:xfrm>
            <a:off x="9930384" y="1700784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4432" y="548640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314432" y="932688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14432" y="1316736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14432" y="1700784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98480" y="548640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98480" y="932688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98480" y="1316736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98480" y="1700784"/>
            <a:ext cx="45720" cy="457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" y="1965960"/>
            <a:ext cx="2377440" cy="411480"/>
          </a:xfrm>
          <a:prstGeom prst="roundRect">
            <a:avLst>
              <a:gd name="adj" fmla="val 48889"/>
            </a:avLst>
          </a:prstGeom>
          <a:solidFill>
            <a:srgbClr val="132038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DATA SCIENCE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24688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3800" b="1" dirty="0">
              <a:solidFill>
                <a:srgbClr val="F8FA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Pre-process and Visualize Data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raw, messy data to clean data and clear insights — with pandas &amp; Matplotlib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4663440"/>
            <a:ext cx="10058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.T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Preprocessing?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is the process of cleaning, organizing, and transforming raw data into a useful format before analysis or visualization.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6309360" cy="379476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514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5760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data quality and accuracy</a:t>
            </a:r>
            <a:endParaRPr lang="en-US" sz="14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errors and inconsistencies</a:t>
            </a:r>
            <a:endParaRPr lang="en-US" sz="14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and duplicate values</a:t>
            </a:r>
            <a:endParaRPr lang="en-US" sz="14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data ready for analysis &amp; machine learning</a:t>
            </a:r>
            <a:endParaRPr lang="en-US" sz="145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in making better decisions from data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223760" y="2286000"/>
            <a:ext cx="4206240" cy="3794760"/>
          </a:xfrm>
          <a:prstGeom prst="roundRect">
            <a:avLst>
              <a:gd name="adj" fmla="val 2169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2971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marks dataset may contain missing marks or duplicate records that need to be corrected before analysis.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498080" y="457200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754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→ accurate analysis → confident decisions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475569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2423160"/>
            <a:ext cx="402336" cy="402336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1239012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48840" y="269748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93492" y="2423160"/>
            <a:ext cx="402336" cy="40233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2793492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290779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03320" y="269748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048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7972" y="2423160"/>
            <a:ext cx="402336" cy="40233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4347972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6200" y="290779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57800" y="269748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9496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02452" y="2423160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5902452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90779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12280" y="269748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4944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6932" y="2423160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456932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90779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/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66760" y="269748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0392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011412" y="2423160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9011412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49640" y="290779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21240" y="2697480"/>
            <a:ext cx="137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058400" y="228600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565892" y="242316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10565892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104120" y="2907792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520" y="41148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Cleaning  →  Transformation  →  Processed Data  →  Visualization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Used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5852160" cy="28346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manipulation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operations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Matplotlib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Seaborn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graphs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IMPORTS</a:t>
            </a:r>
            <a:endParaRPr lang="en-US" sz="1200" dirty="0"/>
          </a:p>
        </p:txBody>
      </p:sp>
      <p:sp>
        <p:nvSpPr>
          <p:cNvPr id="4" name="Shape 3"/>
          <p:cNvSpPr/>
          <p:nvPr/>
        </p:nvSpPr>
        <p:spPr>
          <a:xfrm>
            <a:off x="6949440" y="187452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0F1420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A0F1A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50608" y="2020824"/>
            <a:ext cx="4169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seaborn </a:t>
            </a: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949440" y="3429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handle data cleaning and math; Matplotlib &amp; Seaborn turn the cleaned data into charts.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we have the following student marks dataset: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424160" cy="23774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record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6177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 must be fixed before this data can be analyzed: a missing value and a duplicate record.</a:t>
            </a:r>
            <a:endParaRPr lang="en-US" sz="1300" dirty="0"/>
          </a:p>
        </p:txBody>
      </p:sp>
      <p:sp>
        <p:nvSpPr>
          <p:cNvPr id="5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16128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missing mark with the column average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6858000" cy="4572000"/>
          </a:xfrm>
          <a:prstGeom prst="roundRect">
            <a:avLst>
              <a:gd name="adj" fmla="val 1600"/>
            </a:avLst>
          </a:prstGeom>
          <a:solidFill>
            <a:srgbClr val="0F1420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A0F1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73936"/>
            <a:ext cx="645566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2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'Math'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[80, 92, 70],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'Science'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[75, </a:t>
            </a:r>
            <a:r>
              <a:rPr lang="en-US" sz="12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68]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</a:t>
            </a: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(data)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'Science'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'Science'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'Science'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63840" y="713232"/>
            <a:ext cx="3657600" cy="1920240"/>
          </a:xfrm>
          <a:prstGeom prst="roundRect">
            <a:avLst>
              <a:gd name="adj" fmla="val 3810"/>
            </a:avLst>
          </a:prstGeom>
          <a:solidFill>
            <a:srgbClr val="121B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877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225296"/>
          <a:ext cx="3200400" cy="14173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Science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75.0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71.5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68.0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863840" y="2816352"/>
            <a:ext cx="3657600" cy="4297680"/>
          </a:xfrm>
          <a:prstGeom prst="roundRect">
            <a:avLst>
              <a:gd name="adj" fmla="val 2000"/>
            </a:avLst>
          </a:prstGeom>
          <a:solidFill>
            <a:srgbClr val="121B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29809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92440" y="3346704"/>
            <a:ext cx="3200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Science value is replaced with the average (mean) of the available values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fillna() fills gaps in place without dropping the row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dataset complete for further analysis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 Data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161288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and drop repeated records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6858000" cy="4572000"/>
          </a:xfrm>
          <a:prstGeom prst="roundRect">
            <a:avLst>
              <a:gd name="adj" fmla="val 1600"/>
            </a:avLst>
          </a:prstGeom>
          <a:solidFill>
            <a:srgbClr val="0F1420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A0F1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73936"/>
            <a:ext cx="6455664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2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</a:t>
            </a: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'Ravi'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'Priya'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'Ravi'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'Marks'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[80, 90, 80]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</a:t>
            </a:r>
            <a:r>
              <a:rPr lang="en-US" sz="12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drop_duplicates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5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(df)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863840" y="713232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121B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92440" y="877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225296"/>
          <a:ext cx="3200400" cy="10972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Name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Marks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Ravi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Priya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6DE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863840" y="2496312"/>
            <a:ext cx="3657600" cy="4617720"/>
          </a:xfrm>
          <a:prstGeom prst="roundRect">
            <a:avLst>
              <a:gd name="adj" fmla="val 2000"/>
            </a:avLst>
          </a:prstGeom>
          <a:solidFill>
            <a:srgbClr val="121B2E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2440" y="26609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92440" y="3026664"/>
            <a:ext cx="32004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drop_duplicates() removes repeated rows, keeping the first occurrence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 repeated record from skewing averages or counts</a:t>
            </a:r>
            <a:endParaRPr lang="en-US" sz="1200" dirty="0"/>
          </a:p>
          <a:p>
            <a:pPr marL="177800" indent="-177800">
              <a:lnSpc>
                <a:spcPct val="12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D6D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for duplicates before aggregating data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120640"/>
            <a:ext cx="54864" cy="54864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5120640"/>
            <a:ext cx="54864" cy="54864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5120640"/>
            <a:ext cx="54864" cy="54864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5120640"/>
            <a:ext cx="54864" cy="54864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5120640"/>
            <a:ext cx="54864" cy="54864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7" name="Shape 5"/>
          <p:cNvSpPr/>
          <p:nvPr/>
        </p:nvSpPr>
        <p:spPr>
          <a:xfrm>
            <a:off x="3017520" y="5120640"/>
            <a:ext cx="54864" cy="54864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5120640"/>
            <a:ext cx="54864" cy="54864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5120640"/>
            <a:ext cx="54864" cy="54864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cleaned data into charts that are easy to understand.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Data Visualization?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is the graphical representation of data using charts and graphs.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1206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0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data easy to understand</a:t>
            </a:r>
            <a:endParaRPr lang="en-US" sz="1450" dirty="0"/>
          </a:p>
          <a:p>
            <a:pPr marL="203200" indent="-203200">
              <a:lnSpc>
                <a:spcPct val="130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trends and patterns</a:t>
            </a:r>
            <a:endParaRPr lang="en-US" sz="1450" dirty="0"/>
          </a:p>
          <a:p>
            <a:pPr marL="203200" indent="-203200">
              <a:lnSpc>
                <a:spcPct val="130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compare different values</a:t>
            </a:r>
            <a:endParaRPr lang="en-US" sz="1450" dirty="0"/>
          </a:p>
          <a:p>
            <a:pPr marL="203200" indent="-203200">
              <a:lnSpc>
                <a:spcPct val="130000"/>
              </a:lnSpc>
              <a:spcAft>
                <a:spcPts val="1600"/>
              </a:spcAft>
              <a:buSzPct val="100000"/>
              <a:buChar char="✦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faster decision-making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26480" y="2103120"/>
            <a:ext cx="5303520" cy="3977640"/>
          </a:xfrm>
          <a:prstGeom prst="roundRect">
            <a:avLst>
              <a:gd name="adj" fmla="val 2069"/>
            </a:avLst>
          </a:prstGeom>
          <a:solidFill>
            <a:srgbClr val="0B122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CHART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788920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700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339242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735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9959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87705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4599432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480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5202936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50840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1612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marks across students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F1420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A0F1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73936"/>
            <a:ext cx="627278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= [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'Ravi'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'Priya'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'Arun'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[80, 92, 70]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(students, marks)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'Student Marks'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'Students'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'Marks'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80960" y="713232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877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863840" y="1234440"/>
          <a:ext cx="3474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909560" y="4892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compares marks of students — each bar's height shows one student's score.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1612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trend of sales over time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F1420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A0F1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73936"/>
            <a:ext cx="627278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= [1, 2, 3, 4, 5]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[200, 250, 220, 280, 300]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(days, sales)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 Trend'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xlabel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'Days'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ylabel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80960" y="713232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877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863840" y="1234440"/>
          <a:ext cx="3474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909560" y="4892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graph shows how sales change day by day — rising and dipping trends are easy to spot.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1323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31520" y="116128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each subject's share of total marks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F1420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A0F1A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2688" y="1773936"/>
            <a:ext cx="627278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13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'Math'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'Science'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'English'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= [80, 70, 90]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marks, 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autopct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'%1.1f%%'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'Subject-wise Marks'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</a:t>
            </a: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r>
              <a:rPr lang="en-US" sz="1300" dirty="0">
                <a:solidFill>
                  <a:srgbClr val="D6DE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80960" y="713232"/>
            <a:ext cx="3840480" cy="51206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877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7863840" y="1234440"/>
          <a:ext cx="3474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909560" y="4892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shows the percentage contribution of each subject to the total marks.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and visualization are widely used in: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82496" y="2167128"/>
            <a:ext cx="585216" cy="5852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1682496" y="21671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96596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15968" y="2167128"/>
            <a:ext cx="585216" cy="5852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21671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2834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98464" y="196596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49440" y="2167128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1671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89904" y="2834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631936" y="196596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82912" y="2167128"/>
            <a:ext cx="585216" cy="5852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21671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23376" y="28346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682496" y="3767328"/>
            <a:ext cx="585216" cy="5852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1682496" y="37673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2960" y="44348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64992" y="356616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15968" y="3767328"/>
            <a:ext cx="585216" cy="58521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315968" y="37673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56432" y="44348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98464" y="356616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E293B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949440" y="3767328"/>
            <a:ext cx="585216" cy="5852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376732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89904" y="443484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Visualizing Data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3886200"/>
            <a:ext cx="100584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 NumPy  ·  Matplotlib  ·  Seaborn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6A9C5B-28C4-F872-A097-82B3FBFF4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025" y="793101"/>
            <a:ext cx="7025950" cy="57849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F30519-7362-3549-5E89-6BB472B74AC5}"/>
              </a:ext>
            </a:extLst>
          </p:cNvPr>
          <p:cNvSpPr txBox="1"/>
          <p:nvPr/>
        </p:nvSpPr>
        <p:spPr>
          <a:xfrm>
            <a:off x="5225143" y="328518"/>
            <a:ext cx="1366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GPS Picture</a:t>
            </a:r>
          </a:p>
        </p:txBody>
      </p:sp>
    </p:spTree>
    <p:extLst>
      <p:ext uri="{BB962C8B-B14F-4D97-AF65-F5344CB8AC3E}">
        <p14:creationId xmlns:p14="http://schemas.microsoft.com/office/powerpoint/2010/main" val="373188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934</Words>
  <Application>Microsoft Office PowerPoint</Application>
  <PresentationFormat>Widescreen</PresentationFormat>
  <Paragraphs>273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 Thulasiprasath</cp:lastModifiedBy>
  <cp:revision>6</cp:revision>
  <dcterms:created xsi:type="dcterms:W3CDTF">2026-07-23T11:52:53Z</dcterms:created>
  <dcterms:modified xsi:type="dcterms:W3CDTF">2026-08-12T05:44:09Z</dcterms:modified>
</cp:coreProperties>
</file>